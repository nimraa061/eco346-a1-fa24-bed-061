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918B"/>
                </a:solidFill>
                <a:latin typeface="Aptos"/>
              </a:rPr>
              <a:t>ECO346  |  ECONOMETRICS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107899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1A2D4B"/>
                </a:solidFill>
                <a:latin typeface="Aptos"/>
              </a:rPr>
              <a:t>Annual Earnings in KP Urban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677484"/>
                </a:solidFill>
                <a:latin typeface="Aptos"/>
              </a:rPr>
              <a:t>Assignment 1 • Distribution, age patterns, and reproducibility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657600"/>
            <a:ext cx="310896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657600"/>
            <a:ext cx="73152" cy="1143000"/>
          </a:xfrm>
          <a:prstGeom prst="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767328"/>
            <a:ext cx="2788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77484"/>
                </a:solidFill>
                <a:latin typeface="Aptos"/>
              </a:rPr>
              <a:t>REGISTRATION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4050791"/>
            <a:ext cx="2788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A2D4B"/>
                </a:solidFill>
                <a:latin typeface="Aptos"/>
              </a:rPr>
              <a:t>FA24-BED-061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3657600"/>
            <a:ext cx="237744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3657600"/>
            <a:ext cx="73152" cy="1143000"/>
          </a:xfrm>
          <a:prstGeom prst="rect">
            <a:avLst/>
          </a:prstGeom>
          <a:solidFill>
            <a:srgbClr val="E8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3767328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77484"/>
                </a:solidFill>
                <a:latin typeface="Aptos"/>
              </a:rPr>
              <a:t>VARIANT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4050791"/>
            <a:ext cx="2057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A2D4B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4453128"/>
            <a:ext cx="20574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484"/>
                </a:solidFill>
                <a:latin typeface="Aptos"/>
              </a:rPr>
              <a:t>KP Urban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3657600"/>
            <a:ext cx="338328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12280" y="3657600"/>
            <a:ext cx="73152" cy="1143000"/>
          </a:xfrm>
          <a:prstGeom prst="rect">
            <a:avLst/>
          </a:prstGeom>
          <a:solidFill>
            <a:srgbClr val="2F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3448" y="3767328"/>
            <a:ext cx="3063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77484"/>
                </a:solidFill>
                <a:latin typeface="Aptos"/>
              </a:rPr>
              <a:t>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4050791"/>
            <a:ext cx="3063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A2D4B"/>
                </a:solidFill>
                <a:latin typeface="Aptos"/>
              </a:rPr>
              <a:t>678 earners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4453128"/>
            <a:ext cx="30632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484"/>
                </a:solidFill>
                <a:latin typeface="Aptos"/>
              </a:rPr>
              <a:t>Age 15–64; annual earnings &gt;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715000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Aptos"/>
              </a:rPr>
              <a:t>Weighted summaries use household weights; results describe association, not causation.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77484"/>
                </a:solidFill>
                <a:latin typeface="Aptos"/>
              </a:rPr>
              <a:t>ECO346 Econometrics • Assignment 1 • Variant 5: KP Urban • FA24-BED-061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484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A2D4B"/>
                </a:solidFill>
                <a:latin typeface="Aptos"/>
              </a:rPr>
              <a:t>Q2 • Annual Earnings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KP Urban earners aged 15–64 with positive annual earnings</a:t>
            </a:r>
          </a:p>
        </p:txBody>
      </p:sp>
      <p:pic>
        <p:nvPicPr>
          <p:cNvPr id="4" name="Picture 3" descr="earnings_distribu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858000" cy="2194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417320"/>
            <a:ext cx="3429000" cy="1024128"/>
          </a:xfrm>
          <a:prstGeom prst="roundRect">
            <a:avLst/>
          </a:prstGeom>
          <a:solidFill>
            <a:srgbClr val="F3F7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26679" y="1417320"/>
            <a:ext cx="73152" cy="1024128"/>
          </a:xfrm>
          <a:prstGeom prst="rect">
            <a:avLst/>
          </a:prstGeom>
          <a:solidFill>
            <a:srgbClr val="2F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7848" y="1527048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77484"/>
                </a:solidFill>
                <a:latin typeface="Aptos"/>
              </a:rPr>
              <a:t>UNWEIGHTED MEDIAN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7848" y="1810512"/>
            <a:ext cx="3108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A2D4B"/>
                </a:solidFill>
                <a:latin typeface="Aptos"/>
              </a:rPr>
              <a:t>Rs. 240,000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633472"/>
            <a:ext cx="3429000" cy="1024128"/>
          </a:xfrm>
          <a:prstGeom prst="roundRect">
            <a:avLst/>
          </a:prstGeom>
          <a:solidFill>
            <a:srgbClr val="F3F7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2633472"/>
            <a:ext cx="73152" cy="1024128"/>
          </a:xfrm>
          <a:prstGeom prst="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7848" y="2743200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77484"/>
                </a:solidFill>
                <a:latin typeface="Aptos"/>
              </a:rPr>
              <a:t>WEIGHTED MEDIAN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3026664"/>
            <a:ext cx="3108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A2D4B"/>
                </a:solidFill>
                <a:latin typeface="Aptos"/>
              </a:rPr>
              <a:t>Rs. 240,000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849624"/>
            <a:ext cx="3429000" cy="1024128"/>
          </a:xfrm>
          <a:prstGeom prst="roundRect">
            <a:avLst/>
          </a:prstGeom>
          <a:solidFill>
            <a:srgbClr val="F3F7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3849624"/>
            <a:ext cx="73152" cy="1024128"/>
          </a:xfrm>
          <a:prstGeom prst="rect">
            <a:avLst/>
          </a:prstGeom>
          <a:solidFill>
            <a:srgbClr val="E8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3959352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77484"/>
                </a:solidFill>
                <a:latin typeface="Aptos"/>
              </a:rPr>
              <a:t>P90 / P10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4242816"/>
            <a:ext cx="3108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A2D4B"/>
                </a:solidFill>
                <a:latin typeface="Aptos"/>
              </a:rPr>
              <a:t>5.44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4526280"/>
            <a:ext cx="310896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484"/>
                </a:solidFill>
                <a:latin typeface="Aptos"/>
              </a:rPr>
              <a:t>588,000 ÷ 108,000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166360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Aptos"/>
              </a:rPr>
              <a:t>Weighted P10 = Rs. 108,000  •  Weighted P90 = Rs. 588,000  •  1 observation outside the plotting range (Rs. 5,000) excluded.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Interpretation: the 90th-percentile earner has about 5.44 times the annual earnings of the 10th-percentile earner.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77484"/>
                </a:solidFill>
                <a:latin typeface="Aptos"/>
              </a:rPr>
              <a:t>ECO346 Econometrics • Assignment 1 • Variant 5: KP Urban • FA24-BED-061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48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A2D4B"/>
                </a:solidFill>
                <a:latin typeface="Aptos"/>
              </a:rPr>
              <a:t>Q3 • Earnings Across Age Bands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Weighted mean annual earnings; hollow markers denote thin bands (fewer than 30 earners)</a:t>
            </a:r>
          </a:p>
        </p:txBody>
      </p:sp>
      <p:pic>
        <p:nvPicPr>
          <p:cNvPr id="4" name="Picture 3" descr="age_band_weighted_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543800" cy="358330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600200"/>
            <a:ext cx="2971800" cy="987552"/>
          </a:xfrm>
          <a:prstGeom prst="roundRect">
            <a:avLst/>
          </a:prstGeom>
          <a:solidFill>
            <a:srgbClr val="F3F7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66760" y="1600200"/>
            <a:ext cx="73152" cy="987552"/>
          </a:xfrm>
          <a:prstGeom prst="rect">
            <a:avLst/>
          </a:prstGeom>
          <a:solidFill>
            <a:srgbClr val="2F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67928" y="170992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77484"/>
                </a:solidFill>
                <a:latin typeface="Aptos"/>
              </a:rPr>
              <a:t>AGE 25–29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67928" y="199339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A2D4B"/>
                </a:solidFill>
                <a:latin typeface="Aptos"/>
              </a:rPr>
              <a:t>Rs. 289,679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788920"/>
            <a:ext cx="2971800" cy="987552"/>
          </a:xfrm>
          <a:prstGeom prst="roundRect">
            <a:avLst/>
          </a:prstGeom>
          <a:solidFill>
            <a:srgbClr val="F3F7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66760" y="2788920"/>
            <a:ext cx="73152" cy="987552"/>
          </a:xfrm>
          <a:prstGeom prst="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289864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77484"/>
                </a:solidFill>
                <a:latin typeface="Aptos"/>
              </a:rPr>
              <a:t>AGE 45–49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7928" y="318211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A2D4B"/>
                </a:solidFill>
                <a:latin typeface="Aptos"/>
              </a:rPr>
              <a:t>Rs. 361,264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3977639"/>
            <a:ext cx="2971800" cy="987552"/>
          </a:xfrm>
          <a:prstGeom prst="roundRect">
            <a:avLst/>
          </a:prstGeom>
          <a:solidFill>
            <a:srgbClr val="F3F7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3977639"/>
            <a:ext cx="73152" cy="987552"/>
          </a:xfrm>
          <a:prstGeom prst="rect">
            <a:avLst/>
          </a:prstGeom>
          <a:solidFill>
            <a:srgbClr val="E8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408736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77484"/>
                </a:solidFill>
                <a:latin typeface="Aptos"/>
              </a:rPr>
              <a:t>HIGHEST MEAN: 55–59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4370831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A2D4B"/>
                </a:solidFill>
                <a:latin typeface="Aptos"/>
              </a:rPr>
              <a:t>Rs. 471,159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230368"/>
            <a:ext cx="2834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77484"/>
                </a:solidFill>
                <a:latin typeface="Aptos"/>
              </a:rPr>
              <a:t>The 60–64 mean drops to Rs. 203,724, but this band has only 15 earners.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77484"/>
                </a:solidFill>
                <a:latin typeface="Aptos"/>
              </a:rPr>
              <a:t>ECO346 Econometrics • Assignment 1 • Variant 5: KP Urban • FA24-BED-061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48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A2D4B"/>
                </a:solidFill>
                <a:latin typeface="Aptos"/>
              </a:rPr>
              <a:t>Q4–Q5 • From Default Plot to Clearer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Design choices improve readability; Python independently verifies the age-band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677484"/>
                </a:solidFill>
                <a:latin typeface="Aptos"/>
              </a:rPr>
              <a:t>DEFAULT VIEW (SCHEMATIC)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3918B"/>
                </a:solidFill>
                <a:latin typeface="Aptos"/>
              </a:rPr>
              <a:t>REDESIGNED VIEW</a:t>
            </a:r>
          </a:p>
        </p:txBody>
      </p:sp>
      <p:pic>
        <p:nvPicPr>
          <p:cNvPr id="6" name="Picture 5" descr="default_plot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303520" cy="3453917"/>
          </a:xfrm>
          <a:prstGeom prst="rect">
            <a:avLst/>
          </a:prstGeom>
        </p:spPr>
      </p:pic>
      <p:pic>
        <p:nvPicPr>
          <p:cNvPr id="7" name="Picture 6" descr="age_band_weighted_me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00200"/>
            <a:ext cx="5440680" cy="258432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25312" y="1417320"/>
            <a:ext cx="22860" cy="3520440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983480"/>
            <a:ext cx="4983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Aptos"/>
              </a:rPr>
              <a:t>Default: individual points can overlap; the overall pattern is harder to see.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983480"/>
            <a:ext cx="4983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Aptos"/>
              </a:rPr>
              <a:t>Redesign: log scale, transparency, weighted means, connected age-band markers, and hollow markers for thin bands.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715000"/>
            <a:ext cx="10927080" cy="475488"/>
          </a:xfrm>
          <a:prstGeom prst="roundRect">
            <a:avLst/>
          </a:prstGeom>
          <a:solidFill>
            <a:srgbClr val="F3F7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69864"/>
            <a:ext cx="10561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A2D4B"/>
                </a:solidFill>
                <a:latin typeface="Aptos"/>
              </a:rPr>
              <a:t>Python check: age 25–29 weighted mean = Rs. 289,679, matching R; all 10 age-band means match after applying the same sample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77484"/>
                </a:solidFill>
                <a:latin typeface="Aptos"/>
              </a:rPr>
              <a:t>ECO346 Econometrics • Assignment 1 • Variant 5: KP Urban • FA24-BED-061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48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